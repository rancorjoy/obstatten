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20" Type="http://schemas.openxmlformats.org/officeDocument/2006/relationships/slide" Target="slides/slide15.xml"/><Relationship Id="rId42" Type="http://schemas.openxmlformats.org/officeDocument/2006/relationships/font" Target="fonts/Lato-regular.fntdata"/><Relationship Id="rId41" Type="http://schemas.openxmlformats.org/officeDocument/2006/relationships/font" Target="fonts/Raleway-boldItalic.fntdata"/><Relationship Id="rId22" Type="http://schemas.openxmlformats.org/officeDocument/2006/relationships/slide" Target="slides/slide17.xml"/><Relationship Id="rId44" Type="http://schemas.openxmlformats.org/officeDocument/2006/relationships/font" Target="fonts/Lato-italic.fntdata"/><Relationship Id="rId21" Type="http://schemas.openxmlformats.org/officeDocument/2006/relationships/slide" Target="slides/slide16.xml"/><Relationship Id="rId43" Type="http://schemas.openxmlformats.org/officeDocument/2006/relationships/font" Target="fonts/La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aleway-bold.fntdata"/><Relationship Id="rId16" Type="http://schemas.openxmlformats.org/officeDocument/2006/relationships/slide" Target="slides/slide11.xml"/><Relationship Id="rId38" Type="http://schemas.openxmlformats.org/officeDocument/2006/relationships/font" Target="fonts/Raleway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9249f6d3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9249f6d3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9249f6d3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9249f6d3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249f6d32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249f6d32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9249f6d3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9249f6d3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9249f6d3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9249f6d3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9249f6d3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9249f6d3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9249f6d3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9249f6d3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9249f6d3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9249f6d3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9249f6d3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9249f6d3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9249f6d3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9249f6d3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9249f6d3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9249f6d3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9249f6d32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9249f6d32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9249f6d3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9249f6d3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9249f6d3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9249f6d3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9249f6d32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9249f6d3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9249f6d32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9249f6d3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9249f6d32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9249f6d3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9249f6d32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9249f6d32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9249f6d32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9249f6d32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9249f6d32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9249f6d3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9249f6d3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9249f6d3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9249f6d32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9249f6d32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9249f6d32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9249f6d32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9249f6d3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9249f6d3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9249f6d32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9249f6d32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9249f6d3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9249f6d3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9249f6d3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9249f6d3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9249f6d32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9249f6d32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9249f6d3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9249f6d3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9249f6d32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9249f6d32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9249f6d32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9249f6d3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/>
              <a:t>overlapping block </a:t>
            </a:r>
            <a:r>
              <a:rPr lang="en" sz="3000"/>
              <a:t>Spiking Transformer with Spatial-Temporal Attention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/>
              <a:t>(obSTAtten)</a:t>
            </a:r>
            <a:endParaRPr sz="3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 Esebag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to GitHub Repository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Contains a readme file, LaTeX code, project code, this presentation and all trained data used in the paper.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repository should be </a:t>
            </a:r>
            <a:r>
              <a:rPr lang="en"/>
              <a:t>publicly</a:t>
            </a:r>
            <a:r>
              <a:rPr lang="en"/>
              <a:t> available for the </a:t>
            </a:r>
            <a:r>
              <a:rPr lang="en"/>
              <a:t>foreseeable</a:t>
            </a:r>
            <a:r>
              <a:rPr lang="en"/>
              <a:t> future.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675" y="805863"/>
            <a:ext cx="3531776" cy="353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Introduction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Spiked Neural Networks used in tandem with neuromorphic hardware are very energy efficient due to sparsity of internal signals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Neuromorphic computing consists of neuromorphic hardware, sensors and algorithms, and when used together this enables low energy control for UAVs, robotics, and biomedical imaging devices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This Paper’s Contribution: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paper proposes obSTAtten, a modified spatial-temporal attention model for spiking transformers that supports overlapping temporal blocks.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paper evaluates obSTAtten against STAtten and a `default attention model' over T=4 static inputs.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Related 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Spiking Neural Networks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Spiking Neural Networks are inspired by real neurons (more so than ANN neurons)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Spiking Neurons communicate in pulses (shown to the right)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There are many Spiking Neuron models, the two that were used to test obSTAtten were LIF and PLIF neurons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525" y="877703"/>
            <a:ext cx="3660749" cy="366072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729325" y="4408850"/>
            <a:ext cx="458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Image Source: https://aicompetence.org/spiking-neural-networks-on-fpga-speed-efficiency/</a:t>
            </a:r>
            <a:endParaRPr sz="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Leaky </a:t>
            </a:r>
            <a:r>
              <a:rPr lang="en"/>
              <a:t>Integrate-</a:t>
            </a:r>
            <a:r>
              <a:rPr lang="en"/>
              <a:t>and-Fire Neuron Model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066"/>
              <a:buFont typeface="Arial"/>
              <a:buNone/>
            </a:pPr>
            <a:r>
              <a:rPr lang="en" sz="1220"/>
              <a:t>T:	Timestep</a:t>
            </a:r>
            <a:endParaRPr sz="122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6066"/>
              <a:buFont typeface="Arial"/>
              <a:buNone/>
            </a:pPr>
            <a:r>
              <a:rPr lang="en" sz="1220"/>
              <a:t>V(t) / u[t]: 	Current Membrane Potential</a:t>
            </a:r>
            <a:endParaRPr sz="122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6066"/>
              <a:buFont typeface="Arial"/>
              <a:buNone/>
            </a:pPr>
            <a:r>
              <a:rPr lang="en" sz="1220"/>
              <a:t>V</a:t>
            </a:r>
            <a:r>
              <a:rPr baseline="-25000" lang="en" sz="1220"/>
              <a:t>rest</a:t>
            </a:r>
            <a:r>
              <a:rPr lang="en" sz="1220"/>
              <a:t>: 	Resting Membrane Potential</a:t>
            </a:r>
            <a:endParaRPr sz="122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6066"/>
              <a:buFont typeface="Arial"/>
              <a:buNone/>
            </a:pPr>
            <a:r>
              <a:rPr lang="en" sz="1220"/>
              <a:t>X(t): 	Current Neuron Input</a:t>
            </a:r>
            <a:endParaRPr sz="122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6066"/>
              <a:buFont typeface="Arial"/>
              <a:buNone/>
            </a:pPr>
            <a:r>
              <a:rPr lang="en" sz="1220"/>
              <a:t>𝜏:	Membrane Time Potential (Leak Rate)</a:t>
            </a:r>
            <a:endParaRPr sz="122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6066"/>
              <a:buFont typeface="Arial"/>
              <a:buNone/>
            </a:pPr>
            <a:r>
              <a:rPr lang="en" sz="1220"/>
              <a:t>W: 	Weight</a:t>
            </a:r>
            <a:endParaRPr sz="122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6066"/>
              <a:buFont typeface="Arial"/>
              <a:buNone/>
            </a:pPr>
            <a:r>
              <a:rPr lang="en" sz="1220"/>
              <a:t>l:	Referenced Layer</a:t>
            </a:r>
            <a:endParaRPr sz="122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050" y="2078875"/>
            <a:ext cx="37338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650" y="2640850"/>
            <a:ext cx="3733800" cy="1201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Parametric</a:t>
            </a:r>
            <a:r>
              <a:rPr lang="en"/>
              <a:t> LIF Neuron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20"/>
              <a:buChar char="-"/>
            </a:pPr>
            <a:r>
              <a:rPr lang="en" sz="1220"/>
              <a:t>The parameter </a:t>
            </a:r>
            <a:r>
              <a:rPr lang="en" sz="1220"/>
              <a:t>𝜏 is no longer a hyperparameter and is treated as a trainable parameter</a:t>
            </a:r>
            <a:endParaRPr sz="1220"/>
          </a:p>
          <a:p>
            <a:pPr indent="-306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20"/>
              <a:buChar char="-"/>
            </a:pPr>
            <a:r>
              <a:rPr lang="en" sz="1220"/>
              <a:t>𝜏 is typically shared across an entire layer</a:t>
            </a:r>
            <a:endParaRPr sz="1220"/>
          </a:p>
          <a:p>
            <a:pPr indent="-306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20"/>
              <a:buChar char="-"/>
            </a:pPr>
            <a:r>
              <a:rPr lang="en" sz="1220"/>
              <a:t>This gives the network better temporal response than typical LIF models</a:t>
            </a:r>
            <a:endParaRPr sz="1220"/>
          </a:p>
          <a:p>
            <a:pPr indent="-306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20"/>
              <a:buChar char="-"/>
            </a:pPr>
            <a:r>
              <a:rPr lang="en" sz="1220"/>
              <a:t>PLIF neurons are defined by the three behaviors shown to the right</a:t>
            </a:r>
            <a:endParaRPr sz="1220"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599" y="2078874"/>
            <a:ext cx="3774300" cy="1525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 Transformer (ViT)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When an image is fed into the model, the ViT splits it into P patches.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Different heads that train to correlate for Q, K, and V (Query, Key, Value)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Transformers allow non-contiguous regions of input data to be contextually correlated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Correlation is done using an </a:t>
            </a:r>
            <a:r>
              <a:rPr lang="en"/>
              <a:t>attention</a:t>
            </a:r>
            <a:r>
              <a:rPr lang="en"/>
              <a:t> model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625" y="2155650"/>
            <a:ext cx="3272725" cy="21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Self Attention</a:t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b="3865" l="3865" r="0" t="0"/>
          <a:stretch/>
        </p:blipFill>
        <p:spPr>
          <a:xfrm>
            <a:off x="792075" y="2069275"/>
            <a:ext cx="3779925" cy="18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53850"/>
            <a:ext cx="3845850" cy="226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Spiking Self Attention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Spiking Self Attention (SSA) here is defined for an LIF neuron of arbitrary </a:t>
            </a:r>
            <a:r>
              <a:rPr lang="en" sz="1220"/>
              <a:t>𝜏</a:t>
            </a:r>
            <a:endParaRPr sz="1220"/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SzPts val="1220"/>
              <a:buChar char="-"/>
            </a:pPr>
            <a:r>
              <a:rPr lang="en" sz="1220"/>
              <a:t>This attention model can be tested with both LIF and PLIF neurons</a:t>
            </a:r>
            <a:endParaRPr sz="1220"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550" y="1968050"/>
            <a:ext cx="3774300" cy="2371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300"/>
              <a:t>Spiking Transformer with Spatial-Temporal Attention</a:t>
            </a:r>
            <a:endParaRPr sz="2300"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773" y="2078873"/>
            <a:ext cx="3517724" cy="22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78875"/>
            <a:ext cx="3629247" cy="22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Spiking Transformer with Spatial-Temporal Attention</a:t>
            </a:r>
            <a:endParaRPr sz="2300"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446" y="1853849"/>
            <a:ext cx="7477100" cy="27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Proposed Approach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obSTAtten Architecture Concept</a:t>
            </a:r>
            <a:endParaRPr sz="2300"/>
          </a:p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3">
            <a:alphaModFix/>
          </a:blip>
          <a:srcRect b="0" l="0" r="0" t="11379"/>
          <a:stretch/>
        </p:blipFill>
        <p:spPr>
          <a:xfrm>
            <a:off x="1720900" y="1892450"/>
            <a:ext cx="5566076" cy="269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obSTAtten Change 1: Determining Block Count</a:t>
            </a:r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490" y="2034325"/>
            <a:ext cx="4899111" cy="246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obSTAtten Change 1: Determining Block Count</a:t>
            </a:r>
            <a:endParaRPr/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67274"/>
            <a:ext cx="7898200" cy="179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obSTAtten Change 2: Overlapping Block Construction</a:t>
            </a:r>
            <a:endParaRPr sz="2240"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8175" y="2290000"/>
            <a:ext cx="4152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175" y="3273575"/>
            <a:ext cx="4152900" cy="562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obSTAtten Change 2: Overlapping Block Construction</a:t>
            </a:r>
            <a:endParaRPr sz="2240"/>
          </a:p>
        </p:txBody>
      </p:sp>
      <p:pic>
        <p:nvPicPr>
          <p:cNvPr id="203" name="Google Shape;2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50700"/>
            <a:ext cx="7688399" cy="1979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obSTAtten Change 3: </a:t>
            </a:r>
            <a:r>
              <a:rPr lang="en" sz="2240"/>
              <a:t>Timestep Averaging</a:t>
            </a:r>
            <a:endParaRPr sz="2240"/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550" y="1853850"/>
            <a:ext cx="420052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obSTAtten Change 3: Timestep </a:t>
            </a:r>
            <a:r>
              <a:rPr lang="en" sz="2240"/>
              <a:t>Averaging</a:t>
            </a:r>
            <a:endParaRPr sz="2240"/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938" y="1853850"/>
            <a:ext cx="6144124" cy="26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Experiment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</a:t>
            </a:r>
            <a:r>
              <a:rPr lang="en"/>
              <a:t>the</a:t>
            </a:r>
            <a:r>
              <a:rPr lang="en"/>
              <a:t> Training Pipeline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Spike Modes: lif, plif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Attention Modes: SDT, STAtten, obSTAtten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Dimension Sizes: 256, 512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(see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-c conf/cifar10/2_</a:t>
            </a:r>
            <a:r>
              <a:rPr lang="en" sz="1400"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512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_200E_t4.yml \ )</a:t>
            </a:r>
            <a:endParaRPr/>
          </a:p>
        </p:txBody>
      </p:sp>
      <p:sp>
        <p:nvSpPr>
          <p:cNvPr id="227" name="Google Shape;227;p3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Command Example: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torchrun --nproc_per_node=1 train.py \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-c conf/cifar10/2_512_200E_t4.yml \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--model sdt \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--spike-mode lif \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--attention_mode STAtten \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--batch-size 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Hardware: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GTX </a:t>
            </a:r>
            <a:r>
              <a:rPr lang="en"/>
              <a:t>1070 TI</a:t>
            </a:r>
            <a:r>
              <a:rPr lang="en"/>
              <a:t> GPU (very old)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Limits batch size to 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~100 GB of HDD space on the system (not enough to run CIFAR10-DVS)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Would sometimes run out of space mid-run</a:t>
            </a:r>
            <a:endParaRPr/>
          </a:p>
        </p:txBody>
      </p:sp>
      <p:sp>
        <p:nvSpPr>
          <p:cNvPr id="234" name="Google Shape;234;p3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Time: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run takes ~20-30 hours, this means I could only do 1-2 runs each 48 hours. I did not have time to make any more data, however I managed to test 12 scenarios over the course of this project.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Results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Results</a:t>
            </a:r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825" y="1853850"/>
            <a:ext cx="3607044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875" y="1853850"/>
            <a:ext cx="367238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512-dim, LIF, </a:t>
            </a:r>
            <a:r>
              <a:rPr lang="en"/>
              <a:t>Training</a:t>
            </a:r>
            <a:r>
              <a:rPr lang="en"/>
              <a:t> Times per Epoch</a:t>
            </a:r>
            <a:endParaRPr/>
          </a:p>
        </p:txBody>
      </p:sp>
      <p:pic>
        <p:nvPicPr>
          <p:cNvPr id="252" name="Google Shape;2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626596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256-dim, LIF, STAtten obSTAtten Convergence</a:t>
            </a:r>
            <a:endParaRPr/>
          </a:p>
        </p:txBody>
      </p:sp>
      <p:pic>
        <p:nvPicPr>
          <p:cNvPr id="258" name="Google Shape;2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604565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Observations</a:t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LIF vs PLIF on obSTAtten Performance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Both STAtten and obSTAtten perform worse relative to SDT for PLIF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extra temporal information may confuse PLIF (which already has temporal information)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extra temporal information seems to help LIF (which does not have as much temporal information)</a:t>
            </a:r>
            <a:endParaRPr/>
          </a:p>
        </p:txBody>
      </p:sp>
      <p:sp>
        <p:nvSpPr>
          <p:cNvPr id="265" name="Google Shape;265;p4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STAtten vs obSTAtten for Best-Epoch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 both dim-512 cases obSTAtten reaches its peak faster than STAtten does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This happens both for LIF (when obSTAtten does better) and PLIF (when STAtten does better)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Conclusion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Limitations and Shortcomings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paper only explored the effect of CIFAR10 with static images, which likely limited obSTAtten’s ability to express unique some behaviors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SNNs are </a:t>
            </a:r>
            <a:r>
              <a:rPr lang="en"/>
              <a:t>inherently</a:t>
            </a:r>
            <a:r>
              <a:rPr lang="en"/>
              <a:t> temporal and I would like to continue </a:t>
            </a:r>
            <a:r>
              <a:rPr lang="en"/>
              <a:t>experimenting</a:t>
            </a:r>
            <a:r>
              <a:rPr lang="en"/>
              <a:t> with this using DVS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obSTAtten only conditionally outperforms STAtten, but it does (in some cases) outperform STAtten</a:t>
            </a:r>
            <a:endParaRPr/>
          </a:p>
        </p:txBody>
      </p:sp>
      <p:sp>
        <p:nvSpPr>
          <p:cNvPr id="277" name="Google Shape;277;p4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Work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paper proposes two directions for future work depending on hardware constraints: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Explore more stride and overlap options for CIFAR10 and similar settings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Invest in better equipment and study the effects of DVS on the current obSTatten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